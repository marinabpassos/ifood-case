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Média total_amount (US$)</c:v>
                </c:pt>
              </c:strCache>
            </c:strRef>
          </c:tx>
          <c:spPr>
            <a:solidFill>
              <a:srgbClr val="EA1D2C"/>
            </a:solidFill>
            <a:effectLst/>
          </c:spPr>
          <c:invertIfNegative val="0"/>
          <c:dLbls>
            <c:numFmt formatCode="&quot;$&quot;0.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F1F2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27.46</c:v>
                </c:pt>
                <c:pt idx="1">
                  <c:v>27.37</c:v>
                </c:pt>
                <c:pt idx="2">
                  <c:v>28.29</c:v>
                </c:pt>
                <c:pt idx="3">
                  <c:v>28.78</c:v>
                </c:pt>
                <c:pt idx="4">
                  <c:v>29.45</c:v>
                </c:pt>
              </c:numCache>
            </c:numRef>
          </c:val>
        </c:ser>
        <c:dLbls>
          <c:numFmt formatCode="&quot;$&quot;0.00" sourceLinked="0"/>
          <c:txPr>
            <a:bodyPr/>
            <a:lstStyle/>
            <a:p>
              <a:pPr>
                <a:defRPr b="1" i="0" strike="noStrike" sz="1200" u="none">
                  <a:solidFill>
                    <a:srgbClr val="1F1F2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1F2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.5"/>
          <c:min val="25"/>
        </c:scaling>
        <c:delete val="0"/>
        <c:axPos val="l"/>
        <c:majorGridlines>
          <c:spPr>
            <a:ln w="12700" cap="flat">
              <a:solidFill>
                <a:srgbClr val="EDEDF0"/>
              </a:solidFill>
              <a:prstDash val="solid"/>
              <a:round/>
            </a:ln>
          </c:spPr>
        </c:majorGridlines>
        <c:numFmt formatCode="&quot;$&quot;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6565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Média passenger_count</c:v>
                </c:pt>
              </c:strCache>
            </c:strRef>
          </c:tx>
          <c:spPr>
            <a:solidFill>
              <a:srgbClr val="EA1D2C"/>
            </a:solidFill>
            <a:ln w="38100" cap="flat">
              <a:solidFill>
                <a:srgbClr val="EA1D2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A1D2C"/>
              </a:solidFill>
              <a:ln w="9525" cap="flat">
                <a:solidFill>
                  <a:srgbClr val="EA1D2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00h</c:v>
                  </c:pt>
                  <c:pt idx="1">
                    <c:v>01h</c:v>
                  </c:pt>
                  <c:pt idx="2">
                    <c:v>02h</c:v>
                  </c:pt>
                  <c:pt idx="3">
                    <c:v>03h</c:v>
                  </c:pt>
                  <c:pt idx="4">
                    <c:v>04h</c:v>
                  </c:pt>
                  <c:pt idx="5">
                    <c:v>05h</c:v>
                  </c:pt>
                  <c:pt idx="6">
                    <c:v>06h</c:v>
                  </c:pt>
                  <c:pt idx="7">
                    <c:v>07h</c:v>
                  </c:pt>
                  <c:pt idx="8">
                    <c:v>08h</c:v>
                  </c:pt>
                  <c:pt idx="9">
                    <c:v>09h</c:v>
                  </c:pt>
                  <c:pt idx="10">
                    <c:v>10h</c:v>
                  </c:pt>
                  <c:pt idx="11">
                    <c:v>11h</c:v>
                  </c:pt>
                  <c:pt idx="12">
                    <c:v>12h</c:v>
                  </c:pt>
                  <c:pt idx="13">
                    <c:v>13h</c:v>
                  </c:pt>
                  <c:pt idx="14">
                    <c:v>14h</c:v>
                  </c:pt>
                  <c:pt idx="15">
                    <c:v>15h</c:v>
                  </c:pt>
                  <c:pt idx="16">
                    <c:v>16h</c:v>
                  </c:pt>
                  <c:pt idx="17">
                    <c:v>17h</c:v>
                  </c:pt>
                  <c:pt idx="18">
                    <c:v>18h</c:v>
                  </c:pt>
                  <c:pt idx="19">
                    <c:v>19h</c:v>
                  </c:pt>
                  <c:pt idx="20">
                    <c:v>20h</c:v>
                  </c:pt>
                  <c:pt idx="21">
                    <c:v>21h</c:v>
                  </c:pt>
                  <c:pt idx="22">
                    <c:v>22h</c:v>
                  </c:pt>
                  <c:pt idx="23">
                    <c:v>23h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1.43</c:v>
                </c:pt>
                <c:pt idx="1">
                  <c:v>1.44</c:v>
                </c:pt>
                <c:pt idx="2">
                  <c:v>1.46</c:v>
                </c:pt>
                <c:pt idx="3">
                  <c:v>1.45</c:v>
                </c:pt>
                <c:pt idx="4">
                  <c:v>1.41</c:v>
                </c:pt>
                <c:pt idx="5">
                  <c:v>1.28</c:v>
                </c:pt>
                <c:pt idx="6">
                  <c:v>1.26</c:v>
                </c:pt>
                <c:pt idx="7">
                  <c:v>1.28</c:v>
                </c:pt>
                <c:pt idx="8">
                  <c:v>1.3</c:v>
                </c:pt>
                <c:pt idx="9">
                  <c:v>1.31</c:v>
                </c:pt>
                <c:pt idx="10">
                  <c:v>1.35</c:v>
                </c:pt>
                <c:pt idx="11">
                  <c:v>1.36</c:v>
                </c:pt>
                <c:pt idx="12">
                  <c:v>1.38</c:v>
                </c:pt>
                <c:pt idx="13">
                  <c:v>1.39</c:v>
                </c:pt>
                <c:pt idx="14">
                  <c:v>1.39</c:v>
                </c:pt>
                <c:pt idx="15">
                  <c:v>1.4</c:v>
                </c:pt>
                <c:pt idx="16">
                  <c:v>1.4</c:v>
                </c:pt>
                <c:pt idx="17">
                  <c:v>1.39</c:v>
                </c:pt>
                <c:pt idx="18">
                  <c:v>1.38</c:v>
                </c:pt>
                <c:pt idx="19">
                  <c:v>1.39</c:v>
                </c:pt>
                <c:pt idx="20">
                  <c:v>1.4</c:v>
                </c:pt>
                <c:pt idx="21">
                  <c:v>1.42</c:v>
                </c:pt>
                <c:pt idx="22">
                  <c:v>1.43</c:v>
                </c:pt>
                <c:pt idx="23">
                  <c:v>1.42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6565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5"/>
          <c:min val="1.2"/>
        </c:scaling>
        <c:delete val="0"/>
        <c:axPos val="l"/>
        <c:majorGridlines>
          <c:spPr>
            <a:ln w="12700" cap="flat">
              <a:solidFill>
                <a:srgbClr val="EDEDF0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6565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do iFood para Data Architect. O fio condutor da apresentação não é só a pipeline — é a metodologia agêntica (Spec-Driven Development) que a produziu. Dados: NYC Yellow Taxi, 5 meses de 2023, rodando em Databricks Free Edition.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Importante enquadrar: o case pede a pipeline, mas o que diferencia a entrega é o processo. Os 5 critérios de avaliação são endereçados explicitamente ao longo do deck — especialmente 'justificativa das escolhas', que é o que o SDD força.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fluxo é o do GitHub Spec Kit. O ponto central para a banca: as fases opcionais (Clarify, Checklist, Analyze) existem para não deixar o agente 'preencher lacunas' sozinho. Quando a spec está ambígua, o humano resolve a ambiguidade antes do código existir.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constituição é um arquivo versionado (.specify/memory/constitution.md), não um slide de PowerPoint. Ela é carregada pelo agente em toda sessão — é o que impede a deriva de decisão entre features. O princípio de mínimo layering é o que justifica a ausência de camada Gold, explicada adiante.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Nove features, cada uma com sua pasta em specs/ contendo spec.md, plan.md, research.md e tasks.md. A numeração é a ordem real de execução — nenhuma feature começou antes da anterior ter passado no checkpoint humano.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é o slide onde a banca provavelmente vai perguntar 'cadê a Gold?'. A resposta está no slide: não há dimensões reais a modelar para duas agregações. Construir um star schema aqui seria abstração especulativa — exatamente o que a constituição proíbe. Decisão registrada em DECISOES_PROJETO.md.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catálogo não foi criado clicando na UI — é código versionado (src/ingestion/landing_zone.py), idempotente, que roda como parte da pipeline. Isso é o que torna o ambiente reproduzível do zero. O fallback para o catalog 'workspace' existe como rede de segurança e está documentado em research.md; na prática o CREATE CATALOG funcionou direto. Os COMMENT em cada objeto são o que faz o catálogo ser autoexplicativo para quem chega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separação Landing/Bronze é o que permite reprocessar sem baixar de novo. As 0 duplicatas não são um acaso feliz: o profiling (feature 003) verificou os 5 meses e não achou nenhuma duplicata de linha completa — por isso o contrato da silver marca a regra de duplicatas como 'resolvida a montante', sem lógica própria de dedup.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slide que responde 'por que essas regras e não outras'. A coluna do meio é a evidência: cada regra nasceu de um número medido, não de intuição. Detalhes úteis se perguntarem: total_amount tem mínimo de -982,95 e máximo de 6.304,90 na bronze — defeito conhecido da NYC TLC. VendorID, total_amount e os dois timestamps têm zero nulos em todos os meses. A última linha é importante: o profiling também serve para NÃO criar regra — duplicatas deram zero, então a silver não carrega lógica de dedup que não faria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Duas features distintas de propósito: 005 é só o contrato (nenhum código de escrita), 006 é a implementação. Escrever o contrato primeiro força a decidir o schema sem a pressão de fazer o código passar. O detalhe que costuma impressionar: o YAML é carregado em runtime pelo job (subido ao workspace via databricks workspace import), então mudar o contrato muda o comportamento da pipeline — ele não é decorativo.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Todas as 4 regras são 'drop' — nenhuma tenta corrigir o dado, porque não há como inferir o valor correto de uma corrida com duração negativa. As contagens por regra reproduzem exatamente a baseline medida na bronze (feature 004), o que prova que foram avaliadas sobre o input completo e não sobre um conjunto que encolhe a cada regra. Verificação pós-escrita: as 4 condições retornam 0 linhas na silver. O run passou de primeira, sem correção durante a implementação.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log é uma tabela Delta, não um arquivo de texto — dá para consultar por SQL e montar série histórica de qualidade. Os números da tabela são os do run real. O limiar de 1% é o que transforma observabilidade em ação: abaixo disso é ruído esperado, acima disso alguém olha. Note que a regra de passenger_count (4,3%) estouraria esse limiar — é exatamente o tipo de caso que o alerta existe para trazer à tona, e aqui já sabíamos a causa pelo profiling.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Valores exatos: Jan 27,46 / Fev 27,37 / Mar 28,29 / Abr 28,78 / Mai 29,45. Ser honesta sobre o eixo truncado se perguntarem — está anotado no rodapé e os rótulos mostram os valores absolutos. Fevereiro é o mês de menor volume (2,91M corridas), consistente com ser mês mais curto. Comparação útil: na bronze, sem limpeza, as médias eram ~27,02 a 28,96 — a limpeza subiu ligeiramente a média ao remover os valores negativos, sem distorcer a distribuição.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conclusão honesta aqui é a ausência de sinal forte: a amplitude é de 0,2 passageiro. Vale dizer isso explicitamente — nem toda análise precisa achar um padrão dramático. A leitura de madrugada versus hora do rush é plausível, mas é interpretação, não algo que o dado prove. Lembrar que essa média só é confiável porque as linhas com passenger_count zero ou nulo (4,6% em maio) foram removidas na silver — sem isso, a média cairia artificialmente.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claro que isso é bônus, não uma das duas perguntas obrigatórias. O gráfico é a saída real do Prophet (analysis/charts/), não uma recriação. O padrão semanal é o esperado para táxi urbano: vale no fim de semana/início da semana, pico nos dias úteis centrais.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Enfatizar POC — está na constituição do projeto que isso nunca seja vendido como diferencial. A troca do Genie pelo app próprio é uma decisão de coerência: se tudo no projeto é criado via CLI e versionado, uma peça que só existe clicando na UI seria a exceção que quebra a reprodutibilidade.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slide existe para mostrar que engenharia agêntica não é 'o agente escreve e funciona'. Cada uma dessas limitações apareceu em execução real na Free Edition e exigiu decisão de arquitetura. O valor do DECISOES_PROJETO.md é que a sessão seguinte do agente não redescobre o mesmo problema do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reforçando o meta-objetivo: a pipeline é o artefato, mas o que se propõe como boa prática é o processo que a produziu. Abrir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280160"/>
            <a:ext cx="5120640" cy="5120640"/>
          </a:xfrm>
          <a:prstGeom prst="ellipse">
            <a:avLst/>
          </a:prstGeom>
          <a:solidFill>
            <a:srgbClr val="EA1D2C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-502920"/>
            <a:ext cx="3566160" cy="3566160"/>
          </a:xfrm>
          <a:prstGeom prst="ellipse">
            <a:avLst/>
          </a:prstGeom>
          <a:solidFill>
            <a:srgbClr val="17171C">
              <a:alpha val="0"/>
            </a:srgbClr>
          </a:solidFill>
          <a:ln w="15875">
            <a:solidFill>
              <a:srgbClr val="EA1D2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411480"/>
            <a:ext cx="1737360" cy="1737360"/>
          </a:xfrm>
          <a:prstGeom prst="ellipse">
            <a:avLst/>
          </a:prstGeom>
          <a:solidFill>
            <a:srgbClr val="EA1D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IFOOD DATA ARCHITECT CASE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7863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</a:t>
            </a:r>
            <a:endParaRPr lang="en-US" sz="4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Agêntica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85800" y="387705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Marina Barreto Passos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04088" y="4581144"/>
            <a:ext cx="100584" cy="100584"/>
          </a:xfrm>
          <a:prstGeom prst="ellipse">
            <a:avLst/>
          </a:prstGeom>
          <a:solidFill>
            <a:srgbClr val="EA1D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44988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Yellow Taxi  ·  Jan–Mai 2023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04088" y="4965192"/>
            <a:ext cx="100584" cy="100584"/>
          </a:xfrm>
          <a:prstGeom prst="ellipse">
            <a:avLst/>
          </a:prstGeom>
          <a:solidFill>
            <a:srgbClr val="EA1D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48828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(Free Edition)  ·  PySpark + Delta Lake + Unity Catalog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5532120"/>
            <a:ext cx="6766560" cy="621792"/>
          </a:xfrm>
          <a:prstGeom prst="roundRect">
            <a:avLst>
              <a:gd name="adj" fmla="val 13235"/>
            </a:avLst>
          </a:prstGeom>
          <a:solidFill>
            <a:srgbClr val="26262E"/>
          </a:solidFill>
          <a:ln w="12700">
            <a:solidFill>
              <a:srgbClr val="2626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5532120"/>
            <a:ext cx="6309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Desenvolvido com Spec-Driven Development + Claude Code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DESAFIO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case com dois objetivos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166360" cy="2148840"/>
          </a:xfrm>
          <a:prstGeom prst="roundRect">
            <a:avLst>
              <a:gd name="adj" fmla="val 3830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194560"/>
            <a:ext cx="420624" cy="420624"/>
          </a:xfrm>
          <a:prstGeom prst="ellipse">
            <a:avLst/>
          </a:prstGeom>
          <a:solidFill>
            <a:srgbClr val="EA1D2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73352" y="219456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técnico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97280" y="283464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Ingerir corridas de táxi de NY, disponibilizar via SQL e responder a 2 perguntas analíticas.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166360" cy="2148840"/>
          </a:xfrm>
          <a:prstGeom prst="roundRect">
            <a:avLst>
              <a:gd name="adj" fmla="val 3830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75120" y="2194560"/>
            <a:ext cx="420624" cy="420624"/>
          </a:xfrm>
          <a:prstGeom prst="ellipse">
            <a:avLst/>
          </a:prstGeom>
          <a:solidFill>
            <a:srgbClr val="EA1D2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251192" y="219456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Meta-objetivo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675120" y="283464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Servir de exemplo de boas práticas de engenharia de dados agêntica, usando Claude Code como ferramenta de desenvolvimento.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43708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Critérios de avaliação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4791456"/>
            <a:ext cx="2011680" cy="960120"/>
          </a:xfrm>
          <a:prstGeom prst="roundRect">
            <a:avLst>
              <a:gd name="adj" fmla="val 8571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4791456"/>
            <a:ext cx="16276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e organização do código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880360" y="4791456"/>
            <a:ext cx="2011680" cy="960120"/>
          </a:xfrm>
          <a:prstGeom prst="roundRect">
            <a:avLst>
              <a:gd name="adj" fmla="val 8571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81528" y="4791456"/>
            <a:ext cx="16276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de EDA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74920" y="4791456"/>
            <a:ext cx="2011680" cy="960120"/>
          </a:xfrm>
          <a:prstGeom prst="roundRect">
            <a:avLst>
              <a:gd name="adj" fmla="val 8571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76088" y="4791456"/>
            <a:ext cx="16276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Justificativa das escolhas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69480" y="4791456"/>
            <a:ext cx="2011680" cy="960120"/>
          </a:xfrm>
          <a:prstGeom prst="roundRect">
            <a:avLst>
              <a:gd name="adj" fmla="val 8571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70648" y="4791456"/>
            <a:ext cx="16276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Criatividade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464040" y="4791456"/>
            <a:ext cx="2011680" cy="960120"/>
          </a:xfrm>
          <a:prstGeom prst="roundRect">
            <a:avLst>
              <a:gd name="adj" fmla="val 8571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65208" y="4791456"/>
            <a:ext cx="16276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Clareza na comunicação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Spec-Driven Development (SDD)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86916" y="2404872"/>
            <a:ext cx="9617862" cy="18288"/>
          </a:xfrm>
          <a:prstGeom prst="rect">
            <a:avLst/>
          </a:prstGeom>
          <a:solidFill>
            <a:srgbClr val="D9D9D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740" y="2148840"/>
            <a:ext cx="530352" cy="530352"/>
          </a:xfrm>
          <a:prstGeom prst="ellipse">
            <a:avLst/>
          </a:prstGeom>
          <a:solidFill>
            <a:srgbClr val="EA1D2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825496"/>
            <a:ext cx="120223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23973" y="2148840"/>
            <a:ext cx="530352" cy="530352"/>
          </a:xfrm>
          <a:prstGeom prst="ellipse">
            <a:avLst/>
          </a:prstGeom>
          <a:solidFill>
            <a:srgbClr val="EA1D2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88033" y="2825496"/>
            <a:ext cx="120223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6206" y="2148840"/>
            <a:ext cx="530352" cy="53035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A1D2C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426206" y="21488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90266" y="2825496"/>
            <a:ext cx="120223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28439" y="2148840"/>
            <a:ext cx="530352" cy="530352"/>
          </a:xfrm>
          <a:prstGeom prst="ellipse">
            <a:avLst/>
          </a:prstGeom>
          <a:solidFill>
            <a:srgbClr val="EA1D2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92498" y="2825496"/>
            <a:ext cx="120223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30672" y="2148840"/>
            <a:ext cx="530352" cy="53035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A1D2C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5830672" y="21488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94731" y="2825496"/>
            <a:ext cx="120223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032904" y="2148840"/>
            <a:ext cx="530352" cy="530352"/>
          </a:xfrm>
          <a:prstGeom prst="ellipse">
            <a:avLst/>
          </a:prstGeom>
          <a:solidFill>
            <a:srgbClr val="EA1D2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96964" y="2825496"/>
            <a:ext cx="120223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35137" y="2148840"/>
            <a:ext cx="530352" cy="53035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A1D2C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8235137" y="21488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899197" y="2825496"/>
            <a:ext cx="120223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437370" y="2148840"/>
            <a:ext cx="530352" cy="530352"/>
          </a:xfrm>
          <a:prstGeom prst="ellipse">
            <a:avLst/>
          </a:prstGeom>
          <a:solidFill>
            <a:srgbClr val="EA1D2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01430" y="2825496"/>
            <a:ext cx="120223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639603" y="2148840"/>
            <a:ext cx="530352" cy="530352"/>
          </a:xfrm>
          <a:prstGeom prst="ellipse">
            <a:avLst/>
          </a:prstGeom>
          <a:solidFill>
            <a:srgbClr val="EA1D2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303662" y="2825496"/>
            <a:ext cx="120223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" y="34930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A1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</a:t>
            </a:r>
            <a:pPr indent="0" marL="0">
              <a:buNone/>
            </a:pPr>
            <a:r>
              <a:rPr lang="en-US" sz="1100" i="1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tracejado = fase opcional, acionada quando a spec tem ambiguidade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5800" y="4069080"/>
            <a:ext cx="3401568" cy="1783080"/>
          </a:xfrm>
          <a:prstGeom prst="roundRect">
            <a:avLst>
              <a:gd name="adj" fmla="val 4615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431596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Checkpoints humanos entre as fases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60120" y="484632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não avança sozinho: cada fase termina em revisão antes da seguinte começar.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07408" y="4069080"/>
            <a:ext cx="3401568" cy="1783080"/>
          </a:xfrm>
          <a:prstGeom prst="roundRect">
            <a:avLst>
              <a:gd name="adj" fmla="val 4615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1728" y="431596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Rastreabilidade FR → código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681728" y="484632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arquivo de código cita os requisitos funcionais e as decisões de research.md que implementa.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129016" y="4069080"/>
            <a:ext cx="3401568" cy="1783080"/>
          </a:xfrm>
          <a:prstGeom prst="roundRect">
            <a:avLst>
              <a:gd name="adj" fmla="val 4615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03336" y="431596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403336" y="484632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+ Claude Code, com a constituição do projeto como camada de governança.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GOVERNANÇA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Constituição do projeto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4447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Princípios que governaram todas as decisões técnicas do case.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4846320" cy="3749040"/>
          </a:xfrm>
          <a:prstGeom prst="roundRect">
            <a:avLst>
              <a:gd name="adj" fmla="val 2195"/>
            </a:avLst>
          </a:prstGeom>
          <a:solidFill>
            <a:srgbClr val="FBE3E6"/>
          </a:solidFill>
          <a:ln w="12700">
            <a:solidFill>
              <a:srgbClr val="FBE3E6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2395728"/>
            <a:ext cx="420624" cy="420624"/>
          </a:xfrm>
          <a:prstGeom prst="ellipse">
            <a:avLst/>
          </a:prstGeom>
          <a:solidFill>
            <a:srgbClr val="EA1D2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30175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Não-negociável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3355848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de dados</a:t>
            </a:r>
            <a:endParaRPr lang="en-US" sz="2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um gate, não</a:t>
            </a:r>
            <a:endParaRPr lang="en-US" sz="2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relatório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097280" y="48920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problema não basta — a regra bloqueia o dado.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0" y="2011680"/>
            <a:ext cx="5559552" cy="841248"/>
          </a:xfrm>
          <a:prstGeom prst="roundRect">
            <a:avLst>
              <a:gd name="adj" fmla="val 9783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99632" y="2221992"/>
            <a:ext cx="420624" cy="420624"/>
          </a:xfrm>
          <a:prstGeom prst="ellipse">
            <a:avLst/>
          </a:prstGeom>
          <a:solidFill>
            <a:srgbClr val="EA1D2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84848" y="21305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Contratos de dados antes do código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84848" y="24414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schema é acordado e versionado antes de existir escrita.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0" y="2980944"/>
            <a:ext cx="5559552" cy="841248"/>
          </a:xfrm>
          <a:prstGeom prst="roundRect">
            <a:avLst>
              <a:gd name="adj" fmla="val 9783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3191256"/>
            <a:ext cx="420624" cy="420624"/>
          </a:xfrm>
          <a:prstGeom prst="ellipse">
            <a:avLst/>
          </a:prstGeom>
          <a:solidFill>
            <a:srgbClr val="EA1D2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84848" y="309981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Observabilidade é entregável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84848" y="341071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parte do escopo, não é um extra opcional.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43600" y="3950208"/>
            <a:ext cx="5559552" cy="841248"/>
          </a:xfrm>
          <a:prstGeom prst="roundRect">
            <a:avLst>
              <a:gd name="adj" fmla="val 9783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9632" y="4160520"/>
            <a:ext cx="420624" cy="420624"/>
          </a:xfrm>
          <a:prstGeom prst="ellipse">
            <a:avLst/>
          </a:prstGeom>
          <a:solidFill>
            <a:srgbClr val="EA1D2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84848" y="40690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fixa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84848" y="437997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PySpark, Delta Lake e Unity Catalog — sem troca de ferramenta no meio.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43600" y="4919472"/>
            <a:ext cx="5559552" cy="841248"/>
          </a:xfrm>
          <a:prstGeom prst="roundRect">
            <a:avLst>
              <a:gd name="adj" fmla="val 9783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99632" y="5129784"/>
            <a:ext cx="420624" cy="420624"/>
          </a:xfrm>
          <a:prstGeom prst="ellipse">
            <a:avLst/>
          </a:prstGeom>
          <a:solidFill>
            <a:srgbClr val="EA1D2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84848" y="503834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Mínimo layering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84848" y="534924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abstração especulativa: camada só existe se resolve problema real.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features, 9 ciclos SDD completos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44475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feature percorreu o ciclo inteiro: spec → plan → tasks → implement.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057400"/>
            <a:ext cx="3520440" cy="1170432"/>
          </a:xfrm>
          <a:prstGeom prst="roundRect">
            <a:avLst>
              <a:gd name="adj" fmla="val 7031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2402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266090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do repositório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25696" y="2057400"/>
            <a:ext cx="3520440" cy="1170432"/>
          </a:xfrm>
          <a:prstGeom prst="roundRect">
            <a:avLst>
              <a:gd name="adj" fmla="val 7031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0016" y="22402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00016" y="266090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&amp; Landing Zone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165592" y="2057400"/>
            <a:ext cx="3520440" cy="1170432"/>
          </a:xfrm>
          <a:prstGeom prst="roundRect">
            <a:avLst>
              <a:gd name="adj" fmla="val 7031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39912" y="22402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439912" y="266090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Profiling (EDA)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85800" y="3429000"/>
            <a:ext cx="3520440" cy="1170432"/>
          </a:xfrm>
          <a:prstGeom prst="roundRect">
            <a:avLst>
              <a:gd name="adj" fmla="val 7031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6118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60120" y="403250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Bronze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425696" y="3429000"/>
            <a:ext cx="3520440" cy="1170432"/>
          </a:xfrm>
          <a:prstGeom prst="roundRect">
            <a:avLst>
              <a:gd name="adj" fmla="val 7031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0016" y="36118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700016" y="403250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de dados da Silver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165592" y="3429000"/>
            <a:ext cx="3520440" cy="1170432"/>
          </a:xfrm>
          <a:prstGeom prst="roundRect">
            <a:avLst>
              <a:gd name="adj" fmla="val 7031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39912" y="36118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006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439912" y="403250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Camada Silver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85800" y="4800600"/>
            <a:ext cx="3520440" cy="1170432"/>
          </a:xfrm>
          <a:prstGeom prst="roundRect">
            <a:avLst>
              <a:gd name="adj" fmla="val 7031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9834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007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540410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Observabilidade da pipeline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425696" y="4800600"/>
            <a:ext cx="3520440" cy="1170432"/>
          </a:xfrm>
          <a:prstGeom prst="roundRect">
            <a:avLst>
              <a:gd name="adj" fmla="val 7031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0016" y="49834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008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700016" y="540410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analíticas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8165592" y="4800600"/>
            <a:ext cx="3520440" cy="1170432"/>
          </a:xfrm>
          <a:prstGeom prst="roundRect">
            <a:avLst>
              <a:gd name="adj" fmla="val 7031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39912" y="49834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009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439912" y="540410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App de chat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Medallion em três camadas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3401568" cy="1965960"/>
          </a:xfrm>
          <a:prstGeom prst="roundRect">
            <a:avLst>
              <a:gd name="adj" fmla="val 4186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276856"/>
            <a:ext cx="420624" cy="420624"/>
          </a:xfrm>
          <a:prstGeom prst="ellipse">
            <a:avLst/>
          </a:prstGeom>
          <a:solidFill>
            <a:srgbClr val="EA1D2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54480" y="227685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05840" y="2880360"/>
            <a:ext cx="2761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Parquets crus da fonte NYC TLC, byte-a-byte. Nenhuma transformação.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15384" y="2830068"/>
            <a:ext cx="310896" cy="237744"/>
          </a:xfrm>
          <a:prstGeom prst="rightArrow">
            <a:avLst/>
          </a:prstGeom>
          <a:solidFill>
            <a:srgbClr val="EA1D2C"/>
          </a:solidFill>
          <a:ln w="12700">
            <a:solidFill>
              <a:srgbClr val="EA1D2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54296" y="1965960"/>
            <a:ext cx="3401568" cy="1965960"/>
          </a:xfrm>
          <a:prstGeom prst="roundRect">
            <a:avLst>
              <a:gd name="adj" fmla="val 4186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74336" y="2276856"/>
            <a:ext cx="420624" cy="420624"/>
          </a:xfrm>
          <a:prstGeom prst="ellipse">
            <a:avLst/>
          </a:prstGeom>
          <a:solidFill>
            <a:srgbClr val="EA1D2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22976" y="227685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974336" y="2880360"/>
            <a:ext cx="2761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 1:1 com tratamento técnico. Sem regras de negócio.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83880" y="2830068"/>
            <a:ext cx="310896" cy="237744"/>
          </a:xfrm>
          <a:prstGeom prst="rightArrow">
            <a:avLst/>
          </a:prstGeom>
          <a:solidFill>
            <a:srgbClr val="EA1D2C"/>
          </a:solidFill>
          <a:ln w="12700">
            <a:solidFill>
              <a:srgbClr val="EA1D2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22792" y="1965960"/>
            <a:ext cx="3401568" cy="1965960"/>
          </a:xfrm>
          <a:prstGeom prst="roundRect">
            <a:avLst>
              <a:gd name="adj" fmla="val 4186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42832" y="2276856"/>
            <a:ext cx="420624" cy="420624"/>
          </a:xfrm>
          <a:prstGeom prst="ellipse">
            <a:avLst/>
          </a:prstGeom>
          <a:solidFill>
            <a:srgbClr val="EA1D2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491472" y="227685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942832" y="2880360"/>
            <a:ext cx="2761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validado por contrato + 4 regras de negócio aplicadas.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411480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camada em seu próprio schema no catalog ifood_case — decisão explícita por 3 camadas, não 2.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4617720"/>
            <a:ext cx="10820095" cy="1371600"/>
          </a:xfrm>
          <a:prstGeom prst="roundRect">
            <a:avLst>
              <a:gd name="adj" fmla="val 6000"/>
            </a:avLst>
          </a:prstGeom>
          <a:solidFill>
            <a:srgbClr val="FBE3E6"/>
          </a:solidFill>
          <a:ln w="12700">
            <a:solidFill>
              <a:srgbClr val="FBE3E6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143000" y="482803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camada Gold — e isso é uma decisão, não um esquecimento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" y="5212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2 perguntas do case são agregações diretas sobre a silver; não há dimensões reais a modelar. Adicionar um star schema violaria o princípio de mínimo layering da constituição.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002 — GOVERNANÇA DE DADOS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catálogo de dados no Unity Catalog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 </a:t>
            </a:r>
            <a:pPr indent="0" marL="0">
              <a:buNone/>
            </a:pPr>
            <a:r>
              <a:rPr lang="en-US" sz="1700" b="1" dirty="0">
                <a:solidFill>
                  <a:srgbClr val="1F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ifood_case</a:t>
            </a:r>
            <a:pPr indent="0" marL="0">
              <a:buNone/>
            </a:pPr>
            <a:r>
              <a:rPr lang="en-US" sz="13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criado pela própria pipeline, de forma idempotente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938528"/>
            <a:ext cx="3566160" cy="2286000"/>
          </a:xfrm>
          <a:prstGeom prst="roundRect">
            <a:avLst>
              <a:gd name="adj" fmla="val 3600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78408" y="21579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78408" y="241401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landing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78408" y="29077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783080" y="2907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yellow_taxi_raw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78408" y="3310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parquets crus da NYC TLC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70248" y="2980944"/>
            <a:ext cx="237744" cy="201168"/>
          </a:xfrm>
          <a:prstGeom prst="rightArrow">
            <a:avLst/>
          </a:prstGeom>
          <a:solidFill>
            <a:srgbClr val="EA1D2C"/>
          </a:solidFill>
          <a:ln w="12700">
            <a:solidFill>
              <a:srgbClr val="EA1D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44568" y="1938528"/>
            <a:ext cx="3566160" cy="2286000"/>
          </a:xfrm>
          <a:prstGeom prst="roundRect">
            <a:avLst>
              <a:gd name="adj" fmla="val 3600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37176" y="21579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37176" y="241401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bronze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37176" y="29077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641848" y="2907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yellow_taxi_trips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37176" y="3310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16.186.386 linhas, 19 colunas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29016" y="2980944"/>
            <a:ext cx="237744" cy="201168"/>
          </a:xfrm>
          <a:prstGeom prst="rightArrow">
            <a:avLst/>
          </a:prstGeom>
          <a:solidFill>
            <a:srgbClr val="EA1D2C"/>
          </a:solidFill>
          <a:ln w="12700">
            <a:solidFill>
              <a:srgbClr val="EA1D2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03336" y="1938528"/>
            <a:ext cx="3566160" cy="2286000"/>
          </a:xfrm>
          <a:prstGeom prst="roundRect">
            <a:avLst>
              <a:gd name="adj" fmla="val 3600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95944" y="21579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695944" y="241401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silver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695944" y="29077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500616" y="2907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yellow_taxi_trips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695944" y="33101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A8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500616" y="33101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_pipeline_run_log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695944" y="37124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15.339.417 linhas, 6 colunas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5800" y="4462272"/>
            <a:ext cx="3401568" cy="1572768"/>
          </a:xfrm>
          <a:prstGeom prst="roundRect">
            <a:avLst>
              <a:gd name="adj" fmla="val 5233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464515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Provisionamento idempotente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0120" y="4992624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CATALOG / SCHEMA / VOLUME IF NOT EXISTS — reexecutar a pipeline nunca quebra nem duplica objetos.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407408" y="4462272"/>
            <a:ext cx="3401568" cy="1572768"/>
          </a:xfrm>
          <a:prstGeom prst="roundRect">
            <a:avLst>
              <a:gd name="adj" fmla="val 5233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1728" y="464515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Documentação no próprio objeto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681728" y="4992624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schema e volume é criado com COMMENT: o catálogo se descreve, sem doc paralela para desatualizar.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129016" y="4462272"/>
            <a:ext cx="3401568" cy="1572768"/>
          </a:xfrm>
          <a:prstGeom prst="roundRect">
            <a:avLst>
              <a:gd name="adj" fmla="val 5233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03336" y="464515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 e permissões nativos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403336" y="4992624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Unity Catalog rastreia landing → bronze → silver e centraliza o controle de acesso.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85800" y="626364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previsto para o catalog `workspace` caso a criação falhe — não foi necessário: na Free Edition o CREATE CATALOG usa o Default Storage automaticamente.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002 &amp; 004 — INGESTÃO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&amp; Bronze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166360" cy="2286000"/>
          </a:xfrm>
          <a:prstGeom prst="roundRect">
            <a:avLst>
              <a:gd name="adj" fmla="val 3600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9848" y="2148840"/>
            <a:ext cx="420624" cy="420624"/>
          </a:xfrm>
          <a:prstGeom prst="ellipse">
            <a:avLst/>
          </a:prstGeom>
          <a:solidFill>
            <a:srgbClr val="EA1D2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45920" y="214884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69848" y="2743200"/>
            <a:ext cx="4434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parquets baixados byte-a-byte da fonte NYC TLC.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arquivo verificado: não vazio, legível pelo Spark, sem outlier de tamanho, Content-Length batendo.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transformação.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166360" cy="2286000"/>
          </a:xfrm>
          <a:prstGeom prst="roundRect">
            <a:avLst>
              <a:gd name="adj" fmla="val 3600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47688" y="2148840"/>
            <a:ext cx="420624" cy="420624"/>
          </a:xfrm>
          <a:prstGeom prst="ellipse">
            <a:avLst/>
          </a:prstGeom>
          <a:solidFill>
            <a:srgbClr val="EA1D2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223760" y="214884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647688" y="2743200"/>
            <a:ext cx="4434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 1:1, sem regras de negócio.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tratamento técnico: cast do drift de schema entre meses e metadados de ingestão.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apenas de linhas 100% idênticas.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4407408"/>
            <a:ext cx="10820095" cy="1572768"/>
          </a:xfrm>
          <a:prstGeom prst="roundRect">
            <a:avLst>
              <a:gd name="adj" fmla="val 5233"/>
            </a:avLst>
          </a:prstGeom>
          <a:solidFill>
            <a:srgbClr val="FBE3E6"/>
          </a:solidFill>
          <a:ln w="12700">
            <a:solidFill>
              <a:srgbClr val="FBE3E6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188720" y="459028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16.186.386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1188720" y="52852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ingeridas na bronze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54880" y="459028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754880" y="52852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duplicatas de linha completa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321040" y="459028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8321040" y="52852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mensais (Jan–Mai 2023)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003 — DATA PROFILING (EDA)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profiling achou — e o que cada achado virou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463040"/>
            <a:ext cx="10820095" cy="566928"/>
          </a:xfrm>
          <a:prstGeom prst="roundRect">
            <a:avLst>
              <a:gd name="adj" fmla="val 14516"/>
            </a:avLst>
          </a:prstGeom>
          <a:solidFill>
            <a:srgbClr val="FBE3E6"/>
          </a:solidFill>
          <a:ln w="12700">
            <a:solidFill>
              <a:srgbClr val="FBE3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46304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“As regras não são arbitrárias — cada uma sai de um achado do profiling.”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05840" y="221284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65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ACHADO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754880" y="22128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65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 REAL (POR MÊS)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635240" y="22128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2523744"/>
            <a:ext cx="10820095" cy="621792"/>
          </a:xfrm>
          <a:prstGeom prst="roundRect">
            <a:avLst>
              <a:gd name="adj" fmla="val 13235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523744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 tipo em passenger_count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252374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floating, fev–mai integer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242048" y="2743200"/>
            <a:ext cx="237744" cy="182880"/>
          </a:xfrm>
          <a:prstGeom prst="rightArrow">
            <a:avLst/>
          </a:prstGeom>
          <a:solidFill>
            <a:srgbClr val="EA1D2C"/>
          </a:solidFill>
          <a:ln w="12700">
            <a:solidFill>
              <a:srgbClr val="EA1D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35240" y="2523744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explícito no contrato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3236976"/>
            <a:ext cx="10820095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236976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passenger_count nulo ou zero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3236976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4,01% a 4,60% das linhas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242048" y="3456432"/>
            <a:ext cx="237744" cy="182880"/>
          </a:xfrm>
          <a:prstGeom prst="rightArrow">
            <a:avLst/>
          </a:prstGeom>
          <a:solidFill>
            <a:srgbClr val="EA1D2C"/>
          </a:solidFill>
          <a:ln w="12700">
            <a:solidFill>
              <a:srgbClr val="EA1D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35240" y="323697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drop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3950208"/>
            <a:ext cx="10820095" cy="621792"/>
          </a:xfrm>
          <a:prstGeom prst="roundRect">
            <a:avLst>
              <a:gd name="adj" fmla="val 13235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395020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total_amount ≤ 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395020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0,84% a 0,92% das linhas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242048" y="4169664"/>
            <a:ext cx="237744" cy="182880"/>
          </a:xfrm>
          <a:prstGeom prst="rightArrow">
            <a:avLst/>
          </a:prstGeom>
          <a:solidFill>
            <a:srgbClr val="EA1D2C"/>
          </a:solidFill>
          <a:ln w="12700">
            <a:solidFill>
              <a:srgbClr val="EA1D2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35240" y="395020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drop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85800" y="4663440"/>
            <a:ext cx="10820095" cy="621792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66344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 fora da janela Jan–Mai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0" y="466344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5 a 1.015 linhas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242048" y="4882896"/>
            <a:ext cx="237744" cy="182880"/>
          </a:xfrm>
          <a:prstGeom prst="rightArrow">
            <a:avLst/>
          </a:prstGeom>
          <a:solidFill>
            <a:srgbClr val="EA1D2C"/>
          </a:solidFill>
          <a:ln w="12700">
            <a:solidFill>
              <a:srgbClr val="EA1D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35240" y="466344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drop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85800" y="5376672"/>
            <a:ext cx="10820095" cy="621792"/>
          </a:xfrm>
          <a:prstGeom prst="roundRect">
            <a:avLst>
              <a:gd name="adj" fmla="val 13235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" y="5376672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Duplicatas de linha completa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54880" y="537667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em todos os 5 meses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242048" y="5596128"/>
            <a:ext cx="237744" cy="182880"/>
          </a:xfrm>
          <a:prstGeom prst="rightArrow">
            <a:avLst/>
          </a:prstGeom>
          <a:solidFill>
            <a:srgbClr val="EA1D2C"/>
          </a:solidFill>
          <a:ln w="12700">
            <a:solidFill>
              <a:srgbClr val="EA1D2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35240" y="537667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regra necessária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85800" y="619963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Volumetria por mês: 3.066.766 · 2.913.955 · 3.403.766 · 3.288.250 · 3.513.649 linhas. Fonte: specs/003-data-profiling/findings.md, rodado sobre a bronze em compute serverless.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005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de dados, escrito antes do código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481328"/>
            <a:ext cx="10820095" cy="731520"/>
          </a:xfrm>
          <a:prstGeom prst="roundRect">
            <a:avLst>
              <a:gd name="adj" fmla="val 11250"/>
            </a:avLst>
          </a:prstGeom>
          <a:solidFill>
            <a:srgbClr val="FBE3E6"/>
          </a:solidFill>
          <a:ln w="12700">
            <a:solidFill>
              <a:srgbClr val="FBE3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481328"/>
            <a:ext cx="10012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contracts/nyc_taxi_silver.yaml</a:t>
            </a:r>
            <a:pPr indent="0" marL="0">
              <a:buNone/>
            </a:pPr>
            <a:r>
              <a:rPr lang="en-US" sz="13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versionado no repositório e carregado em runtime pelo job: o contrato dirige a pipeline, não só a documenta.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450592"/>
            <a:ext cx="5559552" cy="1737360"/>
          </a:xfrm>
          <a:prstGeom prst="roundRect">
            <a:avLst>
              <a:gd name="adj" fmla="val 4737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706624"/>
            <a:ext cx="420624" cy="420624"/>
          </a:xfrm>
          <a:prstGeom prst="ellipse">
            <a:avLst/>
          </a:prstGeom>
          <a:solidFill>
            <a:srgbClr val="EA1D2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54480" y="2670048"/>
            <a:ext cx="4370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Grain declarado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554480" y="3054096"/>
            <a:ext cx="4370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linha = um evento de corrida. Sem chave primária formal sobre 6 colunas — a garantia de unicidade é herdada do dedup da bronze sobre as 19 colunas de origem.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64808" y="2450592"/>
            <a:ext cx="5559552" cy="1737360"/>
          </a:xfrm>
          <a:prstGeom prst="roundRect">
            <a:avLst>
              <a:gd name="adj" fmla="val 4737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57416" y="2706624"/>
            <a:ext cx="420624" cy="420624"/>
          </a:xfrm>
          <a:prstGeom prst="ellipse">
            <a:avLst/>
          </a:prstGeom>
          <a:solidFill>
            <a:srgbClr val="EA1D2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33488" y="2670048"/>
            <a:ext cx="4370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colunas, tipos fixos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333488" y="3054096"/>
            <a:ext cx="4370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VendorID, passenger_count, total_amount, os dois timestamps e _silver_processed_at. Metadados da bronze são descartados de propósito.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4407408"/>
            <a:ext cx="5559552" cy="1737360"/>
          </a:xfrm>
          <a:prstGeom prst="roundRect">
            <a:avLst>
              <a:gd name="adj" fmla="val 4737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4663440"/>
            <a:ext cx="420624" cy="420624"/>
          </a:xfrm>
          <a:prstGeom prst="ellipse">
            <a:avLst/>
          </a:prstGeom>
          <a:solidFill>
            <a:srgbClr val="EA1D2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54480" y="4626864"/>
            <a:ext cx="4370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validado antes de gravar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554480" y="5010912"/>
            <a:ext cx="4370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job compara o DataFrame com o contrato e falha em caso de drift — a silver nunca recebe schema divergente.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64808" y="4407408"/>
            <a:ext cx="5559552" cy="1737360"/>
          </a:xfrm>
          <a:prstGeom prst="roundRect">
            <a:avLst>
              <a:gd name="adj" fmla="val 4737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57416" y="4663440"/>
            <a:ext cx="420624" cy="420624"/>
          </a:xfrm>
          <a:prstGeom prst="ellipse">
            <a:avLst/>
          </a:prstGeom>
          <a:solidFill>
            <a:srgbClr val="EA1D2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33488" y="4626864"/>
            <a:ext cx="4370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 de versionamento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333488" y="5010912"/>
            <a:ext cx="4370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para remover coluna ou mudar política de regra; MINOR para coluna opcional nova; PATCH só para redação.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623620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contrato foi implementado pela feature 006 sem nenhuma alteração: `git diff` no arquivo saiu limpo ao fim da implementação.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006 — DATA QUALITY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regras de negócio que barram dados na silver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572768"/>
            <a:ext cx="5559552" cy="1481328"/>
          </a:xfrm>
          <a:prstGeom prst="roundRect">
            <a:avLst>
              <a:gd name="adj" fmla="val 5556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1828800"/>
            <a:ext cx="420624" cy="420624"/>
          </a:xfrm>
          <a:prstGeom prst="ellipse">
            <a:avLst/>
          </a:prstGeom>
          <a:solidFill>
            <a:srgbClr val="EA1D2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54480" y="17739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total_amount ≤ 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63440" y="177393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144.146</a:t>
            </a:r>
            <a:pPr algn="r" indent="0" marL="0">
              <a:buNone/>
            </a:pPr>
            <a:r>
              <a:rPr lang="en-US" sz="11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linhas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2194560"/>
            <a:ext cx="4370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pode ser uma tarifa real cobrada; manteria a média da Q1 artificialmente baixa.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64808" y="1572768"/>
            <a:ext cx="5559552" cy="1481328"/>
          </a:xfrm>
          <a:prstGeom prst="roundRect">
            <a:avLst>
              <a:gd name="adj" fmla="val 5556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57416" y="1828800"/>
            <a:ext cx="420624" cy="420624"/>
          </a:xfrm>
          <a:prstGeom prst="ellipse">
            <a:avLst/>
          </a:prstGeom>
          <a:solidFill>
            <a:srgbClr val="EA1D2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33488" y="17739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passenger_count nulo ou zero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442448" y="177393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702.146</a:t>
            </a:r>
            <a:pPr algn="r" indent="0" marL="0">
              <a:buNone/>
            </a:pPr>
            <a:r>
              <a:rPr lang="en-US" sz="11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linhas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33488" y="2194560"/>
            <a:ext cx="4370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Corrida sem passageiro é defeito de registro, não corrida válida; enviesaria a Q2.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255264"/>
            <a:ext cx="5559552" cy="1481328"/>
          </a:xfrm>
          <a:prstGeom prst="roundRect">
            <a:avLst>
              <a:gd name="adj" fmla="val 5556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3511296"/>
            <a:ext cx="420624" cy="420624"/>
          </a:xfrm>
          <a:prstGeom prst="ellipse">
            <a:avLst/>
          </a:prstGeom>
          <a:solidFill>
            <a:srgbClr val="EA1D2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54480" y="34564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dropoff anterior ao pickup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63440" y="34564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795</a:t>
            </a:r>
            <a:pPr algn="r" indent="0" marL="0">
              <a:buNone/>
            </a:pPr>
            <a:r>
              <a:rPr lang="en-US" sz="11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linhas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54480" y="3877056"/>
            <a:ext cx="4370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Corrida que termina antes de começar é fisicamente impossível — erro de timestamp.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64808" y="3255264"/>
            <a:ext cx="5559552" cy="1481328"/>
          </a:xfrm>
          <a:prstGeom prst="roundRect">
            <a:avLst>
              <a:gd name="adj" fmla="val 5556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57416" y="3511296"/>
            <a:ext cx="420624" cy="420624"/>
          </a:xfrm>
          <a:prstGeom prst="ellipse">
            <a:avLst/>
          </a:prstGeom>
          <a:solidFill>
            <a:srgbClr val="EA1D2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33488" y="34564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fora de Jan–Mai 2023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442448" y="34564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1.077</a:t>
            </a:r>
            <a:pPr algn="r" indent="0" marL="0">
              <a:buNone/>
            </a:pPr>
            <a:r>
              <a:rPr lang="en-US" sz="11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linhas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33488" y="3877056"/>
            <a:ext cx="4370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Vazamento de período adjacente; fora da janela de análise do case.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4864608"/>
            <a:ext cx="10820095" cy="1170432"/>
          </a:xfrm>
          <a:prstGeom prst="roundRect">
            <a:avLst>
              <a:gd name="adj" fmla="val 7031"/>
            </a:avLst>
          </a:prstGeom>
          <a:solidFill>
            <a:srgbClr val="FBE3E6"/>
          </a:solidFill>
          <a:ln w="12700">
            <a:solidFill>
              <a:srgbClr val="FBE3E6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143000" y="5029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16.186.386</a:t>
            </a:r>
            <a:endParaRPr lang="en-US" sz="2500" dirty="0"/>
          </a:p>
        </p:txBody>
      </p:sp>
      <p:sp>
        <p:nvSpPr>
          <p:cNvPr id="26" name="Text 24"/>
          <p:cNvSpPr/>
          <p:nvPr/>
        </p:nvSpPr>
        <p:spPr>
          <a:xfrm>
            <a:off x="1143000" y="54864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lidas da bronze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977640" y="5230368"/>
            <a:ext cx="256032" cy="201168"/>
          </a:xfrm>
          <a:prstGeom prst="rightArrow">
            <a:avLst/>
          </a:prstGeom>
          <a:solidFill>
            <a:srgbClr val="EA1D2C"/>
          </a:solidFill>
          <a:ln w="12700">
            <a:solidFill>
              <a:srgbClr val="EA1D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0" y="5029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565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846.969</a:t>
            </a:r>
            <a:endParaRPr lang="en-US" sz="2500" dirty="0"/>
          </a:p>
        </p:txBody>
      </p:sp>
      <p:sp>
        <p:nvSpPr>
          <p:cNvPr id="29" name="Text 27"/>
          <p:cNvSpPr/>
          <p:nvPr/>
        </p:nvSpPr>
        <p:spPr>
          <a:xfrm>
            <a:off x="4389120" y="54864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descartadas (5,23%)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223760" y="5230368"/>
            <a:ext cx="256032" cy="201168"/>
          </a:xfrm>
          <a:prstGeom prst="rightArrow">
            <a:avLst/>
          </a:prstGeom>
          <a:solidFill>
            <a:srgbClr val="EA1D2C"/>
          </a:solidFill>
          <a:ln w="12700">
            <a:solidFill>
              <a:srgbClr val="EA1D2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35240" y="5029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15.339.417</a:t>
            </a:r>
            <a:endParaRPr lang="en-US" sz="2500" dirty="0"/>
          </a:p>
        </p:txBody>
      </p:sp>
      <p:sp>
        <p:nvSpPr>
          <p:cNvPr id="32" name="Text 30"/>
          <p:cNvSpPr/>
          <p:nvPr/>
        </p:nvSpPr>
        <p:spPr>
          <a:xfrm>
            <a:off x="7635240" y="54864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escritas na silver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5800" y="619963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4 contagens são independentes, avaliadas sobre a bronze inteira — por isso somam 848.164, e não 846.969: 1.195 linhas violaram mais de uma regra e são contadas uma vez só no total.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007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Observabilidade é entregável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532120" cy="1024128"/>
          </a:xfrm>
          <a:prstGeom prst="roundRect">
            <a:avLst>
              <a:gd name="adj" fmla="val 8036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2130552"/>
            <a:ext cx="420624" cy="420624"/>
          </a:xfrm>
          <a:prstGeom prst="ellipse">
            <a:avLst/>
          </a:prstGeom>
          <a:solidFill>
            <a:srgbClr val="EA1D2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54480" y="197510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de execução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554480" y="2286000"/>
            <a:ext cx="4434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run — bronze e silver — grava uma linha em ifood_case.silver._pipeline_run_log.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3035808"/>
            <a:ext cx="5532120" cy="1024128"/>
          </a:xfrm>
          <a:prstGeom prst="roundRect">
            <a:avLst>
              <a:gd name="adj" fmla="val 8036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3337560"/>
            <a:ext cx="420624" cy="420624"/>
          </a:xfrm>
          <a:prstGeom prst="ellipse">
            <a:avLst/>
          </a:prstGeom>
          <a:solidFill>
            <a:srgbClr val="EA1D2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54480" y="318211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registrado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554480" y="3493008"/>
            <a:ext cx="4434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lidas e escritas, drops por regra, status e duração de cada etapa.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242816"/>
            <a:ext cx="5532120" cy="1024128"/>
          </a:xfrm>
          <a:prstGeom prst="roundRect">
            <a:avLst>
              <a:gd name="adj" fmla="val 8036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4544568"/>
            <a:ext cx="420624" cy="420624"/>
          </a:xfrm>
          <a:prstGeom prst="ellipse">
            <a:avLst/>
          </a:prstGeom>
          <a:solidFill>
            <a:srgbClr val="EA1D2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54480" y="438912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 nativo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554480" y="4700016"/>
            <a:ext cx="4434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rastreia landing → bronze → silver sem instrumentação extra.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0" y="1828800"/>
            <a:ext cx="4919472" cy="2121408"/>
          </a:xfrm>
          <a:prstGeom prst="roundRect">
            <a:avLst>
              <a:gd name="adj" fmla="val 3879"/>
            </a:avLst>
          </a:prstGeom>
          <a:solidFill>
            <a:srgbClr val="FBE3E6"/>
          </a:solidFill>
          <a:ln w="12700">
            <a:solidFill>
              <a:srgbClr val="FBE3E6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49440" y="20665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AUTOMÁTICO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49440" y="239572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1%</a:t>
            </a:r>
            <a:endParaRPr lang="en-US" sz="4600" dirty="0"/>
          </a:p>
        </p:txBody>
      </p:sp>
      <p:sp>
        <p:nvSpPr>
          <p:cNvPr id="19" name="Text 17"/>
          <p:cNvSpPr/>
          <p:nvPr/>
        </p:nvSpPr>
        <p:spPr>
          <a:xfrm>
            <a:off x="6949440" y="320040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 quando qualquer regra de qualidade derruba mais de 1% das linhas de um run.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83680" y="4160520"/>
            <a:ext cx="4919472" cy="1810512"/>
          </a:xfrm>
          <a:prstGeom prst="roundRect">
            <a:avLst>
              <a:gd name="adj" fmla="val 4545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43251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_pipeline_run_log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03720" y="469087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909560" y="469087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281160" y="469087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escritas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744200" y="469087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03720" y="507492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09560" y="507492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16.186.386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281160" y="507492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16.186.386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744200" y="507492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1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03720" y="545896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909560" y="545896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16.186.386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281160" y="545896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15.339.417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744200" y="545896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1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 de total_amount por mês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85800" y="1783080"/>
          <a:ext cx="731520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1783080"/>
            <a:ext cx="3182112" cy="3794760"/>
          </a:xfrm>
          <a:prstGeom prst="roundRect">
            <a:avLst>
              <a:gd name="adj" fmla="val 2586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13648" y="20574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os dados mostram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13648" y="249631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+7,2%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8613648" y="3154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janeiro a maio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13648" y="3611880"/>
            <a:ext cx="2615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 de alta consistente: $27,46 em janeiro para $29,45 em maio.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Única queda em fevereiro ($27,37), o mês com menos corridas do período.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580644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vertical inicia em $25 para evidenciar a variação. Fonte: ifood_case.silver.yellow_taxi_trips, agregação direta sem limpeza adicional.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 de passageiros por hora do dia — maio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85800" y="1783080"/>
          <a:ext cx="731520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1783080"/>
            <a:ext cx="3182112" cy="3794760"/>
          </a:xfrm>
          <a:prstGeom prst="roundRect">
            <a:avLst>
              <a:gd name="adj" fmla="val 2586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13648" y="20574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Variação pequena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13648" y="249631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1,26 – 1,46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613648" y="3154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passageiros por corrida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13648" y="3611880"/>
            <a:ext cx="26151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às 6h (1,26) — deslocamento pendular, majoritariamente solo.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às 2h (1,46) — corridas de madrugada tendem a ser compartilhadas.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pico de corridas multi-passageiro em hora específica.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580644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vertical entre 1,20 e 1,50 para evidenciar a variação. Fonte: ifood_case.silver.yellow_taxi_trips, maio/2023.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BÔNUS — ALÉM DO ESCOPO PEDIDO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Decomposição do volume diário com Prophet</a:t>
            </a:r>
            <a:endParaRPr lang="en-US" sz="3200" dirty="0"/>
          </a:p>
        </p:txBody>
      </p:sp>
      <p:pic>
        <p:nvPicPr>
          <p:cNvPr id="4" name="Image 0" descr="C:\Repos\ifood_case\.claude\worktrees\apresentacao-pptx-7b4c82\analysis\charts\daily_trip_volume_compon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691640"/>
            <a:ext cx="763524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" y="1737360"/>
            <a:ext cx="3017520" cy="1572768"/>
          </a:xfrm>
          <a:prstGeom prst="roundRect">
            <a:avLst>
              <a:gd name="adj" fmla="val 5233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41832" y="1901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Tendência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41832" y="22128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92k → 107k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941832" y="268833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corridas/dia, de janeiro a maio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85800" y="3456432"/>
            <a:ext cx="3017520" cy="1572768"/>
          </a:xfrm>
          <a:prstGeom prst="roundRect">
            <a:avLst>
              <a:gd name="adj" fmla="val 5233"/>
            </a:avLst>
          </a:prstGeom>
          <a:solidFill>
            <a:srgbClr val="FDF2F3"/>
          </a:solidFill>
          <a:ln w="12700">
            <a:solidFill>
              <a:srgbClr val="FDF2F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41832" y="36210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Sazonalidade semanal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41832" y="3931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+10,6k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941832" y="440740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na quinta; mínimo dom/seg, −13k a −15k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85800" y="5193792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ajustado apenas sobre as datas históricas — sem previsão futura, porque o objetivo era enxergar o padrão já presente nos dados.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009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POC: chat em linguagem natural → SQL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2487168" cy="1417320"/>
          </a:xfrm>
          <a:prstGeom prst="roundRect">
            <a:avLst>
              <a:gd name="adj" fmla="val 5806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2066544"/>
            <a:ext cx="347472" cy="347472"/>
          </a:xfrm>
          <a:prstGeom prst="ellipse">
            <a:avLst/>
          </a:prstGeom>
          <a:solidFill>
            <a:srgbClr val="EA1D2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41832" y="2505456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 em PT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41832" y="2798064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Gradio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27832" y="2432304"/>
            <a:ext cx="274320" cy="201168"/>
          </a:xfrm>
          <a:prstGeom prst="rightArrow">
            <a:avLst/>
          </a:prstGeom>
          <a:solidFill>
            <a:srgbClr val="EA1D2C"/>
          </a:solidFill>
          <a:ln w="12700">
            <a:solidFill>
              <a:srgbClr val="EA1D2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84448" y="1828800"/>
            <a:ext cx="2487168" cy="1417320"/>
          </a:xfrm>
          <a:prstGeom prst="roundRect">
            <a:avLst>
              <a:gd name="adj" fmla="val 5806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0" y="2066544"/>
            <a:ext cx="347472" cy="347472"/>
          </a:xfrm>
          <a:prstGeom prst="ellipse">
            <a:avLst/>
          </a:prstGeom>
          <a:solidFill>
            <a:srgbClr val="EA1D2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0" y="2505456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Model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840480" y="2798064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o SQL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2432304"/>
            <a:ext cx="274320" cy="201168"/>
          </a:xfrm>
          <a:prstGeom prst="rightArrow">
            <a:avLst/>
          </a:prstGeom>
          <a:solidFill>
            <a:srgbClr val="EA1D2C"/>
          </a:solidFill>
          <a:ln w="12700">
            <a:solidFill>
              <a:srgbClr val="EA1D2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83096" y="1828800"/>
            <a:ext cx="2487168" cy="1417320"/>
          </a:xfrm>
          <a:prstGeom prst="roundRect">
            <a:avLst>
              <a:gd name="adj" fmla="val 5806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39128" y="2066544"/>
            <a:ext cx="347472" cy="347472"/>
          </a:xfrm>
          <a:prstGeom prst="ellipse">
            <a:avLst/>
          </a:prstGeom>
          <a:solidFill>
            <a:srgbClr val="EA1D2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39128" y="2505456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Execução real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739128" y="2798064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a silver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025128" y="2432304"/>
            <a:ext cx="274320" cy="201168"/>
          </a:xfrm>
          <a:prstGeom prst="rightArrow">
            <a:avLst/>
          </a:prstGeom>
          <a:solidFill>
            <a:srgbClr val="EA1D2C"/>
          </a:solidFill>
          <a:ln w="12700">
            <a:solidFill>
              <a:srgbClr val="EA1D2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81744" y="1828800"/>
            <a:ext cx="2487168" cy="1417320"/>
          </a:xfrm>
          <a:prstGeom prst="roundRect">
            <a:avLst>
              <a:gd name="adj" fmla="val 5806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37776" y="2066544"/>
            <a:ext cx="347472" cy="347472"/>
          </a:xfrm>
          <a:prstGeom prst="ellipse">
            <a:avLst/>
          </a:prstGeom>
          <a:solidFill>
            <a:srgbClr val="EA1D2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37776" y="2505456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 formatada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637776" y="2798064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ao usuário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5800" y="3547872"/>
            <a:ext cx="5532120" cy="2194560"/>
          </a:xfrm>
          <a:prstGeom prst="roundRect">
            <a:avLst>
              <a:gd name="adj" fmla="val 3750"/>
            </a:avLst>
          </a:prstGeom>
          <a:solidFill>
            <a:srgbClr val="FBE3E6"/>
          </a:solidFill>
          <a:ln w="12700">
            <a:solidFill>
              <a:srgbClr val="FBE3E6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69848" y="378561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uma POC, não um produto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1069848" y="4261104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contra SQL injection: apenas SELECT é aceito.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 o caminho de consumo da silver — não é entregável de produção.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46520" y="3547872"/>
            <a:ext cx="5056632" cy="2194560"/>
          </a:xfrm>
          <a:prstGeom prst="roundRect">
            <a:avLst>
              <a:gd name="adj" fmla="val 3750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378561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não o Genie Space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12280" y="4261104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Genie é só-UI: não tem caminho via CLI ou API. Adotá-lo quebraria o padrão de automação ponta-a-ponta do projeto, em que todo artefato é criado por código versionado.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PRÁTICA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Limitações reais encontradas — e contornadas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51560" y="17830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65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LIMITAÇÃO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37960" y="17830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CONTORNO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2148840"/>
            <a:ext cx="10820095" cy="713232"/>
          </a:xfrm>
          <a:prstGeom prst="roundRect">
            <a:avLst>
              <a:gd name="adj" fmla="val 11538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148840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ALTER SCHEMA … RENAME no Unity Catalog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70448" y="2414016"/>
            <a:ext cx="274320" cy="182880"/>
          </a:xfrm>
          <a:prstGeom prst="rightArrow">
            <a:avLst/>
          </a:prstGeom>
          <a:solidFill>
            <a:srgbClr val="EA1D2C"/>
          </a:solidFill>
          <a:ln w="12700">
            <a:solidFill>
              <a:srgbClr val="EA1D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214884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via create → copy → verify → drop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990088"/>
            <a:ext cx="10820095" cy="713232"/>
          </a:xfrm>
          <a:prstGeom prst="roundRect">
            <a:avLst>
              <a:gd name="adj" fmla="val 11538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990088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input_file_name() não suportado em compute UC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870448" y="3255264"/>
            <a:ext cx="274320" cy="182880"/>
          </a:xfrm>
          <a:prstGeom prst="rightArrow">
            <a:avLst/>
          </a:prstGeom>
          <a:solidFill>
            <a:srgbClr val="EA1D2C"/>
          </a:solidFill>
          <a:ln w="12700">
            <a:solidFill>
              <a:srgbClr val="EA1D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2990088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por _metadata.file_name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3831336"/>
            <a:ext cx="10820095" cy="713232"/>
          </a:xfrm>
          <a:prstGeom prst="roundRect">
            <a:avLst>
              <a:gd name="adj" fmla="val 11538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831336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de serving com rate limit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870448" y="4096512"/>
            <a:ext cx="274320" cy="182880"/>
          </a:xfrm>
          <a:prstGeom prst="rightArrow">
            <a:avLst/>
          </a:prstGeom>
          <a:solidFill>
            <a:srgbClr val="EA1D2C"/>
          </a:solidFill>
          <a:ln w="12700">
            <a:solidFill>
              <a:srgbClr val="EA1D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3831336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automático de modelo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4672584"/>
            <a:ext cx="10820095" cy="713232"/>
          </a:xfrm>
          <a:prstGeom prst="roundRect">
            <a:avLst>
              <a:gd name="adj" fmla="val 11538"/>
            </a:avLst>
          </a:prstGeom>
          <a:solidFill>
            <a:srgbClr val="F4F4F5"/>
          </a:solidFill>
          <a:ln w="12700">
            <a:solidFill>
              <a:srgbClr val="F4F4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672584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Warehouse frio na primeira query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870448" y="4937760"/>
            <a:ext cx="274320" cy="182880"/>
          </a:xfrm>
          <a:prstGeom prst="rightArrow">
            <a:avLst/>
          </a:prstGeom>
          <a:solidFill>
            <a:srgbClr val="EA1D2C"/>
          </a:solidFill>
          <a:ln w="12700">
            <a:solidFill>
              <a:srgbClr val="EA1D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4672584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polling até ficar disponível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5513832"/>
            <a:ext cx="10820095" cy="658368"/>
          </a:xfrm>
          <a:prstGeom prst="roundRect">
            <a:avLst>
              <a:gd name="adj" fmla="val 12500"/>
            </a:avLst>
          </a:prstGeom>
          <a:solidFill>
            <a:srgbClr val="FBE3E6"/>
          </a:solidFill>
          <a:ln w="12700">
            <a:solidFill>
              <a:srgbClr val="FBE3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55138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DECISOES_PROJETO.md</a:t>
            </a:r>
            <a:pPr indent="0" marL="0">
              <a:buNone/>
            </a:pPr>
            <a:r>
              <a:rPr lang="en-US" sz="1250" dirty="0">
                <a:solidFill>
                  <a:srgbClr val="565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o log de decisões do projeto: cada contorno acima ficou registrado com o motivo, não só com o código.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7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3291840"/>
            <a:ext cx="4937760" cy="4937760"/>
          </a:xfrm>
          <a:prstGeom prst="ellipse">
            <a:avLst/>
          </a:prstGeom>
          <a:solidFill>
            <a:srgbClr val="EA1D2C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foi entregue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22376" y="1901952"/>
            <a:ext cx="118872" cy="118872"/>
          </a:xfrm>
          <a:prstGeom prst="ellipse">
            <a:avLst/>
          </a:prstGeom>
          <a:solidFill>
            <a:srgbClr val="EA1D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178308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e pipeline medallion completos (landing → bronze → silver)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22376" y="2468880"/>
            <a:ext cx="118872" cy="118872"/>
          </a:xfrm>
          <a:prstGeom prst="ellipse">
            <a:avLst/>
          </a:prstGeom>
          <a:solidFill>
            <a:srgbClr val="EA1D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2350008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2 respostas analíticas pedidas pelo case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22376" y="3035808"/>
            <a:ext cx="118872" cy="118872"/>
          </a:xfrm>
          <a:prstGeom prst="ellipse">
            <a:avLst/>
          </a:prstGeom>
          <a:solidFill>
            <a:srgbClr val="EA1D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916936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Bônus: decomposição de série temporal com Prophet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22376" y="3602736"/>
            <a:ext cx="118872" cy="118872"/>
          </a:xfrm>
          <a:prstGeom prst="ellipse">
            <a:avLst/>
          </a:prstGeom>
          <a:solidFill>
            <a:srgbClr val="EA1D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" y="3483864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de consumo: chat em linguagem natural sobre a silver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85800" y="4261104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1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abordagem agêntica / SDD trouxe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5800" y="4736592"/>
            <a:ext cx="3035808" cy="713232"/>
          </a:xfrm>
          <a:prstGeom prst="roundRect">
            <a:avLst>
              <a:gd name="adj" fmla="val 11538"/>
            </a:avLst>
          </a:prstGeom>
          <a:solidFill>
            <a:srgbClr val="26262E"/>
          </a:solidFill>
          <a:ln w="12700">
            <a:solidFill>
              <a:srgbClr val="2626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" y="480974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Rastreabilidade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41832" y="51023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cada FR até a linha de código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931920" y="4736592"/>
            <a:ext cx="3035808" cy="713232"/>
          </a:xfrm>
          <a:prstGeom prst="roundRect">
            <a:avLst>
              <a:gd name="adj" fmla="val 11538"/>
            </a:avLst>
          </a:prstGeom>
          <a:solidFill>
            <a:srgbClr val="26262E"/>
          </a:solidFill>
          <a:ln w="12700">
            <a:solidFill>
              <a:srgbClr val="2626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87952" y="480974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87952" y="51023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versionados antes da implementação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5577840"/>
            <a:ext cx="3035808" cy="713232"/>
          </a:xfrm>
          <a:prstGeom prst="roundRect">
            <a:avLst>
              <a:gd name="adj" fmla="val 11538"/>
            </a:avLst>
          </a:prstGeom>
          <a:solidFill>
            <a:srgbClr val="26262E"/>
          </a:solidFill>
          <a:ln w="12700">
            <a:solidFill>
              <a:srgbClr val="2626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" y="56509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41832" y="5943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gate de execução, não relatório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931920" y="5577840"/>
            <a:ext cx="3035808" cy="713232"/>
          </a:xfrm>
          <a:prstGeom prst="roundRect">
            <a:avLst>
              <a:gd name="adj" fmla="val 11538"/>
            </a:avLst>
          </a:prstGeom>
          <a:solidFill>
            <a:srgbClr val="26262E"/>
          </a:solidFill>
          <a:ln w="12700">
            <a:solidFill>
              <a:srgbClr val="2626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87952" y="56509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87952" y="5943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humanos em cada fase do ciclo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635240" y="23317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Obrigada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7635240" y="31089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0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Marina Barreto Passos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0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iFood Data Architect Case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iFood Data Architect Case — Engenharia de Dados Agêntica</dc:title>
  <dc:subject>PptxGenJS Presentation</dc:subject>
  <dc:creator>Marina Barreto Passos</dc:creator>
  <cp:lastModifiedBy>Marina Barreto Passos</cp:lastModifiedBy>
  <cp:revision>1</cp:revision>
  <dcterms:created xsi:type="dcterms:W3CDTF">2026-07-27T03:48:37Z</dcterms:created>
  <dcterms:modified xsi:type="dcterms:W3CDTF">2026-07-27T03:48:37Z</dcterms:modified>
</cp:coreProperties>
</file>